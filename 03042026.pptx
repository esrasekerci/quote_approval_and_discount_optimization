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310550-2D4E-BE48-9159-59BD2B316A9F}">
          <p14:sldIdLst>
            <p14:sldId id="256"/>
            <p14:sldId id="257"/>
            <p14:sldId id="259"/>
            <p14:sldId id="260"/>
            <p14:sldId id="261"/>
            <p14:sldId id="262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8"/>
    <p:restoredTop sz="94105"/>
  </p:normalViewPr>
  <p:slideViewPr>
    <p:cSldViewPr snapToGrid="0">
      <p:cViewPr varScale="1">
        <p:scale>
          <a:sx n="118" d="100"/>
          <a:sy n="11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C4865-8662-2741-9287-80BDFDCB903E}" type="datetimeFigureOut">
              <a:rPr lang="en-TR" smtClean="0"/>
              <a:t>14.06.2026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13595-9211-2648-B62A-EC949B300297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3973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3595-9211-2648-B62A-EC949B300297}" type="slidenum">
              <a:rPr lang="en-TR" smtClean="0"/>
              <a:t>7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2029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2340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3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36764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3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9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7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89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660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2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8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2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5790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60FA-5118-698D-DB05-AB69D3339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901" y="2500049"/>
            <a:ext cx="10134198" cy="1857901"/>
          </a:xfrm>
        </p:spPr>
        <p:txBody>
          <a:bodyPr anchor="t">
            <a:normAutofit/>
          </a:bodyPr>
          <a:lstStyle/>
          <a:p>
            <a:r>
              <a:rPr lang="en-US" sz="2800" b="1" spc="0" dirty="0">
                <a:latin typeface="Century Gothic" panose="020B0502020202020204" pitchFamily="34" charset="0"/>
              </a:rPr>
              <a:t>Quote Approval Prediction and Discount Optimization for Portfolio Growth</a:t>
            </a:r>
            <a:endParaRPr lang="en-TR" sz="28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8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F280-D548-C990-83F4-2A814C6A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8" y="541572"/>
            <a:ext cx="10500852" cy="494149"/>
          </a:xfrm>
        </p:spPr>
        <p:txBody>
          <a:bodyPr anchor="b">
            <a:normAutofit/>
          </a:bodyPr>
          <a:lstStyle/>
          <a:p>
            <a:r>
              <a:rPr lang="en-US" sz="2400" b="1" spc="0" dirty="0">
                <a:latin typeface="Century Gothic" panose="020B0502020202020204" pitchFamily="34" charset="0"/>
              </a:rPr>
              <a:t>Business Problem and Project Scope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6C0CCFC-02AD-7FF2-D1FD-83FF9E1C00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456" y="1574330"/>
            <a:ext cx="101350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Objective 1: 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predict whether a customer will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accept or decline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an insurance quote.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Objective 2: 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determine how to use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up to 10% premium discount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to maximize expected portfolio growth with minimum margin sacrifice.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740C2-9B36-035E-3FC2-317854692300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B2F0A-2008-9C4B-9B98-10860F81EBC7}"/>
              </a:ext>
            </a:extLst>
          </p:cNvPr>
          <p:cNvSpPr txBox="1"/>
          <p:nvPr/>
        </p:nvSpPr>
        <p:spPr>
          <a:xfrm>
            <a:off x="1476242" y="5778596"/>
            <a:ext cx="18790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1: Workflow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98125-9FE3-5E5E-A40E-E42C775AD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42" y="3067046"/>
            <a:ext cx="9239516" cy="269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8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A1B8C-AA14-FB1B-C170-35B63636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00D5DC-46EF-21DF-DB2D-B05D68DDED4A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2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148BB5D3-E08B-C710-1466-84D4C44567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342988"/>
            <a:ext cx="51816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    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Dataset size: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19,085 observations × 14 variables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      </a:t>
            </a:r>
            <a:r>
              <a:rPr lang="en-US" altLang="en-TR" sz="14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teklif_onay_durumu</a:t>
            </a:r>
            <a:r>
              <a:rPr lang="en-US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: 16,711 not approved (87.56%) 		     2,374 approved  (12.44%)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TR" altLang="en-TR" sz="1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Data audit: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Screened the raw dataset for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invalid values, duplicate records, missingness structure, variable-type consistency, and leakage risk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Invalid placeholder handling: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Re-coded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yas = 0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as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missing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since zero is not a plausible observed age and would otherwise induce measurement bias.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Missingness diagnostics (3.934 % in total):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Evaluated the joint missing-data pattern and found that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yas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and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ilce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missingness were fully aligned, indicating a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systematic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not purely random, mechanism.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Statistical interpretation: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This aligned missingness was strongly concentrated in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sigortali_tipi = TÜZEL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suggesting the missing-data process is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informative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and associated with customer type.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00831D6-FF9E-3279-F8BA-B27CD943B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869237"/>
              </p:ext>
            </p:extLst>
          </p:nvPr>
        </p:nvGraphicFramePr>
        <p:xfrm>
          <a:off x="6483384" y="1961544"/>
          <a:ext cx="5394960" cy="407161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00461">
                  <a:extLst>
                    <a:ext uri="{9D8B030D-6E8A-4147-A177-3AD203B41FA5}">
                      <a16:colId xmlns:a16="http://schemas.microsoft.com/office/drawing/2014/main" val="3619087141"/>
                    </a:ext>
                  </a:extLst>
                </a:gridCol>
                <a:gridCol w="2373549">
                  <a:extLst>
                    <a:ext uri="{9D8B030D-6E8A-4147-A177-3AD203B41FA5}">
                      <a16:colId xmlns:a16="http://schemas.microsoft.com/office/drawing/2014/main" val="2609180923"/>
                    </a:ext>
                  </a:extLst>
                </a:gridCol>
                <a:gridCol w="920950">
                  <a:extLst>
                    <a:ext uri="{9D8B030D-6E8A-4147-A177-3AD203B41FA5}">
                      <a16:colId xmlns:a16="http://schemas.microsoft.com/office/drawing/2014/main" val="928389131"/>
                    </a:ext>
                  </a:extLst>
                </a:gridCol>
              </a:tblGrid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Variable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Description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Type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3423635867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teklif_numarasi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Unique quote identifier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chr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1599721849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hasarsizlik_indirimi_kademesi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No-claim discount level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ord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342850066"/>
                  </a:ext>
                </a:extLst>
              </a:tr>
              <a:tr h="34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trafik_basamak_kodu</a:t>
                      </a:r>
                      <a:endParaRPr lang="en-US" sz="1100" dirty="0"/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Traffic insurance step level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ord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2837584576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marka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Vehicle brand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fct</a:t>
                      </a:r>
                      <a:endParaRPr lang="en-US" sz="1100" dirty="0"/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1607485089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arac_yasi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Vehicle age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dbl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4164606847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model_yili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Vehicle model year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dbl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1178898927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yakit_tipi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Fuel type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fct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2631657424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il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Province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fct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4249786478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ilce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District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fct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3198759779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yas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Insured age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dbl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3908401682"/>
                  </a:ext>
                </a:extLst>
              </a:tr>
              <a:tr h="294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teklif_primi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Quote premium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dbl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225292663"/>
                  </a:ext>
                </a:extLst>
              </a:tr>
              <a:tr h="227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portfoy_ayrimi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Portfolio segment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fct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2474166549"/>
                  </a:ext>
                </a:extLst>
              </a:tr>
              <a:tr h="399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sigortali_tipi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Insured type (individual / corporate)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fct</a:t>
                      </a:r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37122547"/>
                  </a:ext>
                </a:extLst>
              </a:tr>
              <a:tr h="349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teklif_onay_durumu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Quote approval outcome</a:t>
                      </a:r>
                    </a:p>
                  </a:txBody>
                  <a:tcPr marL="54456" marR="54456" marT="27228" marB="272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/>
                        <a:t>fct</a:t>
                      </a:r>
                      <a:endParaRPr lang="en-US" sz="1100" dirty="0"/>
                    </a:p>
                  </a:txBody>
                  <a:tcPr marL="54456" marR="54456" marT="27228" marB="27228" anchor="ctr"/>
                </a:tc>
                <a:extLst>
                  <a:ext uri="{0D108BD9-81ED-4DB2-BD59-A6C34878D82A}">
                    <a16:rowId xmlns:a16="http://schemas.microsoft.com/office/drawing/2014/main" val="407569982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6949E00-504C-9FF6-EE00-86293A522779}"/>
              </a:ext>
            </a:extLst>
          </p:cNvPr>
          <p:cNvSpPr txBox="1"/>
          <p:nvPr/>
        </p:nvSpPr>
        <p:spPr>
          <a:xfrm>
            <a:off x="6440424" y="1719300"/>
            <a:ext cx="17187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Table 1 : Data Dictionary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EBD579-18EE-1348-8C43-3FB9BFB18EF3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Data Quality Review and Preprocessing Logic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36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25C0B-71EE-2371-AB95-0D482C8D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EDE18A-8B11-1A39-88B1-ACBD53606027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6CA1E2-1860-FAC7-C6B0-396A991136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2" t="1998" r="8946" b="2136"/>
          <a:stretch>
            <a:fillRect/>
          </a:stretch>
        </p:blipFill>
        <p:spPr>
          <a:xfrm>
            <a:off x="2806847" y="3934122"/>
            <a:ext cx="7132126" cy="24233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CC4B00-853E-AC29-0397-94D59BBFCFAF}"/>
              </a:ext>
            </a:extLst>
          </p:cNvPr>
          <p:cNvSpPr txBox="1"/>
          <p:nvPr/>
        </p:nvSpPr>
        <p:spPr>
          <a:xfrm>
            <a:off x="2806847" y="6370813"/>
            <a:ext cx="28071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2: </a:t>
            </a:r>
            <a:r>
              <a:rPr lang="en-US" sz="1000" dirty="0">
                <a:latin typeface="Century Gothic" panose="020B0502020202020204" pitchFamily="34" charset="0"/>
              </a:rPr>
              <a:t>Distribution of Numeric Variables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810019-77D9-6749-5234-8403C62C82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4563" y="1147473"/>
            <a:ext cx="1048543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Quote premium showed a pronounced right-skewed distribution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with a long upper tail driven by high-value but plausible business cases.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Extreme premium observations were retained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since they were reviewed as valid business extremes rather than obvious data-entry anomalies.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log transformation of premium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was applied to reduce skewness, compress the upper tail, and improve scale behavior for downstream modeling.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kumimoji="0" lang="en-TR" altLang="en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arac_yasi and model_yili were deterministically redundant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since vehicle age is mechanically derived from model year. To avoid </a:t>
            </a:r>
            <a:r>
              <a:rPr kumimoji="0" lang="en-TR" altLang="en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redundant signal and potential collinearity</a:t>
            </a:r>
            <a:r>
              <a:rPr kumimoji="0" lang="en-TR" altLang="en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arac_yasi was excluded and model_yili was retained for subsequent analysis.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71764EC-6F27-E650-38D9-BEDE03E27350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EDA: Distributional and Structural Findings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60AA7-1F5F-14C6-EC3B-011D137BC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379FB-B5D8-2F6C-5E9B-CDD2F994CCAD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4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8E2DF66-6AB9-24C4-0AEA-AED4B05A5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854" y="923139"/>
            <a:ext cx="6574766" cy="594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Marginal association: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portfoy_ayrimi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showed the strongest categorical association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highest Cramér’s V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), while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teklif_primi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was the strongest numeric discriminator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largest absolute point-biserial correlation; Wilcoxon significant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Premium effect: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Premium was negatively associated with approval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point-biserial &lt; 0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), but the relationship was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moderate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not perfectly separating the classes. 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Confounding: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Stratified summaries showed that premium, portfolio segment, and insured type varied jointly, so the raw premium effect is partly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confounded by subgroup composition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Interaction: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Premium interaction terms improved fit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LR test: p = 0.0021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), indicating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effect heterogeneity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rather than a single common premium slope. 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Main finding: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The negative premium effect was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weaker in YENİ İŞ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while insured-type interaction was comparatively limited. </a:t>
            </a:r>
          </a:p>
          <a:p>
            <a:pPr>
              <a:lnSpc>
                <a:spcPct val="10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Collinearity: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The main redundancy was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arac_yasi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vs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model_yili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; after dropping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arac_yasi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remaining collinearity was negligible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adjusted GVIF ≈ 1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99D5C-8CEA-2C42-3159-4F1EABDF2F6D}"/>
              </a:ext>
            </a:extLst>
          </p:cNvPr>
          <p:cNvSpPr txBox="1"/>
          <p:nvPr/>
        </p:nvSpPr>
        <p:spPr>
          <a:xfrm>
            <a:off x="7488620" y="5890284"/>
            <a:ext cx="3921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3: </a:t>
            </a:r>
            <a:r>
              <a:rPr lang="en-US" sz="1000" dirty="0">
                <a:latin typeface="Century Gothic" panose="020B0502020202020204" pitchFamily="34" charset="0"/>
              </a:rPr>
              <a:t>Spearman Correlation Matrix of Numeric Predictors</a:t>
            </a:r>
            <a:r>
              <a:rPr lang="en-TR" sz="1000" dirty="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ECA7BF-B587-0676-80F5-5F1DEBB53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20" y="1965872"/>
            <a:ext cx="4315291" cy="387477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6543AB-1A94-2FF7-351D-8601E4D425FB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EDA: Association, Confounding, and Interaction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2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FEC93-F3D7-F38E-1D34-705C0CB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5977-0B48-0D4E-5ED1-1AE5EEDF0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8" y="1262061"/>
            <a:ext cx="10903188" cy="26191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Split: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Stratified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85% / 15%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train–test split (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16,222 train - 2,863 test observations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).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Leakage prevention: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All feature engineering and preprocessing were fit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after splitting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and on training data only.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Key engineered terms: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log_teklif_primi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premium interactions, and tariff/discount interaction terms.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Imputation/encoding: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Median imputation for numeric variables, separate missing category for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ilce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, and training-only one-hot encoding.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Feature screening: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Mutual Information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and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Extra Trees Gini Importance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showed that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log_teklif_primi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and its interaction terms were the most informative predictors.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Modeling setup: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5-fold CV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on the training set, class-weighted learners, and imbalance-aware evaluation metrics.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86983-B37D-7459-B40C-6A83CD3E7D5A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5EB75-FD64-A003-2785-8A9D90A10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89" y="3487208"/>
            <a:ext cx="7031152" cy="2842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5681E-A404-DCE8-F50C-0C75DF93539F}"/>
              </a:ext>
            </a:extLst>
          </p:cNvPr>
          <p:cNvSpPr txBox="1"/>
          <p:nvPr/>
        </p:nvSpPr>
        <p:spPr>
          <a:xfrm>
            <a:off x="2662589" y="6370813"/>
            <a:ext cx="4947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4: </a:t>
            </a:r>
            <a:r>
              <a:rPr lang="en-US" sz="1000" dirty="0">
                <a:latin typeface="Century Gothic" panose="020B0502020202020204" pitchFamily="34" charset="0"/>
              </a:rPr>
              <a:t>Top Features by Mutual Information and Extra Trees Gini Importance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0A8A0A8-5B6B-9459-E783-B388506E0B06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Feature Engineering and Imbalance-Aware Modeling Setup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05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60397-2CA3-9068-29C1-A297D72A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3FB02302-FD0F-0062-4A42-05DD480715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080" y="1121420"/>
            <a:ext cx="6523124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Several model families were compared: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Logistic Regression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Elastic Net Logistic Regression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Random Forest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Extra Trees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HistGradientBoosting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LightGBM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- MLP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Hyperparameters were tuned using </a:t>
            </a:r>
            <a:r>
              <a:rPr lang="en-TR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5-fold cross-validation on the training set only</a:t>
            </a: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Main optimization metric: </a:t>
            </a:r>
            <a:r>
              <a:rPr lang="en-TR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ROC-AUC</a:t>
            </a: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Cross-validated tuning results showed a </a:t>
            </a:r>
            <a:r>
              <a:rPr lang="en-TR" altLang="en-TR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very tight leaderboard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TR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Logistic regression (baseline model) remained a strong baseline, indicating that much of the signal is still explainable with relatively simple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8DBDB-BB90-4713-7768-902634F707F4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6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45408EE-5E37-59DD-04AA-D334DB97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51653"/>
              </p:ext>
            </p:extLst>
          </p:nvPr>
        </p:nvGraphicFramePr>
        <p:xfrm>
          <a:off x="8218865" y="1930492"/>
          <a:ext cx="3211135" cy="299701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73532">
                  <a:extLst>
                    <a:ext uri="{9D8B030D-6E8A-4147-A177-3AD203B41FA5}">
                      <a16:colId xmlns:a16="http://schemas.microsoft.com/office/drawing/2014/main" val="1481425811"/>
                    </a:ext>
                  </a:extLst>
                </a:gridCol>
                <a:gridCol w="1421821">
                  <a:extLst>
                    <a:ext uri="{9D8B030D-6E8A-4147-A177-3AD203B41FA5}">
                      <a16:colId xmlns:a16="http://schemas.microsoft.com/office/drawing/2014/main" val="2468596102"/>
                    </a:ext>
                  </a:extLst>
                </a:gridCol>
                <a:gridCol w="1315782">
                  <a:extLst>
                    <a:ext uri="{9D8B030D-6E8A-4147-A177-3AD203B41FA5}">
                      <a16:colId xmlns:a16="http://schemas.microsoft.com/office/drawing/2014/main" val="1543735868"/>
                    </a:ext>
                  </a:extLst>
                </a:gridCol>
              </a:tblGrid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Rank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Model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dirty="0"/>
                        <a:t>Best CV ROC-AUC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503800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1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extra_trees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0.758780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320346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2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 err="1"/>
                        <a:t>hist_gbm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0.758502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912745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mlp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0.758215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806354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4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lightgbm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0.756593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723949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logistic_l2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0.756149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77744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6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random_forest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0.756125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54350"/>
                  </a:ext>
                </a:extLst>
              </a:tr>
              <a:tr h="374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R" sz="1000"/>
                        <a:t>7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logistic_elasticnet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0.756083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05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8B94C39-1402-4F83-EC0C-7002090E0C3B}"/>
              </a:ext>
            </a:extLst>
          </p:cNvPr>
          <p:cNvSpPr txBox="1"/>
          <p:nvPr/>
        </p:nvSpPr>
        <p:spPr>
          <a:xfrm>
            <a:off x="8218865" y="1684271"/>
            <a:ext cx="3211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Table 2 : </a:t>
            </a:r>
            <a:r>
              <a:rPr lang="en-US" sz="1000" dirty="0">
                <a:latin typeface="Century Gothic" panose="020B0502020202020204" pitchFamily="34" charset="0"/>
              </a:rPr>
              <a:t>Cross-Validated Model Tuning Summary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9368E3-6122-04B8-C03F-CAB35602684D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Model Families and Hyperparameter Tuning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1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F24C7-76B7-6FEF-2E52-26F5FD4F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B3EF4AC-B637-EDE6-E056-366ABD36E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4100703"/>
              </p:ext>
            </p:extLst>
          </p:nvPr>
        </p:nvGraphicFramePr>
        <p:xfrm>
          <a:off x="1188312" y="4331854"/>
          <a:ext cx="4090270" cy="224905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818054">
                  <a:extLst>
                    <a:ext uri="{9D8B030D-6E8A-4147-A177-3AD203B41FA5}">
                      <a16:colId xmlns:a16="http://schemas.microsoft.com/office/drawing/2014/main" val="62674959"/>
                    </a:ext>
                  </a:extLst>
                </a:gridCol>
                <a:gridCol w="818054">
                  <a:extLst>
                    <a:ext uri="{9D8B030D-6E8A-4147-A177-3AD203B41FA5}">
                      <a16:colId xmlns:a16="http://schemas.microsoft.com/office/drawing/2014/main" val="3248128571"/>
                    </a:ext>
                  </a:extLst>
                </a:gridCol>
                <a:gridCol w="818054">
                  <a:extLst>
                    <a:ext uri="{9D8B030D-6E8A-4147-A177-3AD203B41FA5}">
                      <a16:colId xmlns:a16="http://schemas.microsoft.com/office/drawing/2014/main" val="3202084882"/>
                    </a:ext>
                  </a:extLst>
                </a:gridCol>
                <a:gridCol w="818054">
                  <a:extLst>
                    <a:ext uri="{9D8B030D-6E8A-4147-A177-3AD203B41FA5}">
                      <a16:colId xmlns:a16="http://schemas.microsoft.com/office/drawing/2014/main" val="3131625900"/>
                    </a:ext>
                  </a:extLst>
                </a:gridCol>
                <a:gridCol w="818054">
                  <a:extLst>
                    <a:ext uri="{9D8B030D-6E8A-4147-A177-3AD203B41FA5}">
                      <a16:colId xmlns:a16="http://schemas.microsoft.com/office/drawing/2014/main" val="1163227661"/>
                    </a:ext>
                  </a:extLst>
                </a:gridCol>
              </a:tblGrid>
              <a:tr h="39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Class / Metric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dirty="0"/>
                        <a:t>Precision</a:t>
                      </a:r>
                      <a:endParaRPr lang="en-US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Recall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F1-Score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/>
                        <a:t>Support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27528644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Declined (0)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0.9128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0.8975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0.9051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2507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016325535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Accepted (1)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0.3543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0.3961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0.3740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356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15405325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Accuracy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 dirty="0"/>
                        <a:t>0.8351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/>
                        <a:t>2863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1446126249"/>
                  </a:ext>
                </a:extLst>
              </a:tr>
              <a:tr h="366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Macro Avg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0.6335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0.6468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0.6395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2863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424764073"/>
                  </a:ext>
                </a:extLst>
              </a:tr>
              <a:tr h="391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Weighted Avg</a:t>
                      </a:r>
                      <a:endParaRPr lang="en-US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0.8433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0.8351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b="1"/>
                        <a:t>0.8390</a:t>
                      </a:r>
                      <a:endParaRPr lang="en-TR" sz="100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TR" sz="1000" dirty="0"/>
                        <a:t>2863</a:t>
                      </a:r>
                      <a:endParaRPr lang="en-TR" sz="1000" dirty="0">
                        <a:latin typeface="Century Gothic" panose="020B0502020202020204" pitchFamily="34" charset="0"/>
                      </a:endParaRPr>
                    </a:p>
                  </a:txBody>
                  <a:tcPr marL="44793" marR="44793" marT="22397" marB="22397" anchor="ctr"/>
                </a:tc>
                <a:extLst>
                  <a:ext uri="{0D108BD9-81ED-4DB2-BD59-A6C34878D82A}">
                    <a16:rowId xmlns:a16="http://schemas.microsoft.com/office/drawing/2014/main" val="33492087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B43FB4-D8FA-B1EC-9812-9F584F7DE165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A6A3F-CE04-4280-F2FA-2A530CDD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955" y="4313024"/>
            <a:ext cx="2482472" cy="21193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FCED56-76E5-DDBF-DF91-E5451F806E0B}"/>
              </a:ext>
            </a:extLst>
          </p:cNvPr>
          <p:cNvSpPr txBox="1"/>
          <p:nvPr/>
        </p:nvSpPr>
        <p:spPr>
          <a:xfrm>
            <a:off x="1188313" y="4085633"/>
            <a:ext cx="3547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Table 3: </a:t>
            </a:r>
            <a:r>
              <a:rPr lang="en-US" sz="1000" dirty="0">
                <a:latin typeface="Century Gothic" panose="020B0502020202020204" pitchFamily="34" charset="0"/>
              </a:rPr>
              <a:t>Final Test-Set Classification Results (Extra Trees)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C643A-DDE5-9D83-765E-1053D0C5E81F}"/>
              </a:ext>
            </a:extLst>
          </p:cNvPr>
          <p:cNvSpPr txBox="1"/>
          <p:nvPr/>
        </p:nvSpPr>
        <p:spPr>
          <a:xfrm>
            <a:off x="5430955" y="6457890"/>
            <a:ext cx="2202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5: </a:t>
            </a:r>
            <a:r>
              <a:rPr lang="en-US" sz="1000" dirty="0">
                <a:latin typeface="Century Gothic" panose="020B0502020202020204" pitchFamily="34" charset="0"/>
              </a:rPr>
              <a:t>Confusion Matrix of the </a:t>
            </a:r>
          </a:p>
          <a:p>
            <a:r>
              <a:rPr lang="en-US" sz="1000" dirty="0">
                <a:latin typeface="Century Gothic" panose="020B0502020202020204" pitchFamily="34" charset="0"/>
              </a:rPr>
              <a:t>Final Extra Trees model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37159EE4-53AE-8289-AAD3-0F8C0CDB6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41" y="1046221"/>
            <a:ext cx="10838996" cy="2959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Primary selection logic: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class-balanced performance was prioritized because the target is imbalanced;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Macro-F1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was the main comparative metric, supported by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ROC-AUC / PR-AUC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from cross-validation.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Extra Trees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was retained because it gave the strongest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overall balance across classes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and the most suitable performance for probability-based targeting.</a:t>
            </a: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TR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Ensembling</a:t>
            </a:r>
            <a:r>
              <a:rPr lang="en-US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did not help because c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andidate models produced highly similar predictions, so </a:t>
            </a:r>
            <a:r>
              <a:rPr lang="en-US" sz="14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ensembling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added complexity without measurable gain.</a:t>
            </a:r>
            <a:endParaRPr lang="en-US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The model (Extra Trees) captures nonlinear and interaction-driven structure better than linear baselines.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It remains stronger on Declined than Accepted, which is expected under imbalance.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TR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This is acceptable because the final business use case relies on probability-based targeting, not only hard classification.</a:t>
            </a:r>
            <a:endParaRPr lang="en-TR" altLang="en-TR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D8001B-3892-8D09-CAFD-2540C31BA8BD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 err="1">
                <a:latin typeface="Century Gothic" panose="020B0502020202020204" pitchFamily="34" charset="0"/>
              </a:rPr>
              <a:t>Fınal</a:t>
            </a:r>
            <a:r>
              <a:rPr lang="en-US" sz="2400" b="1" spc="0" dirty="0">
                <a:latin typeface="Century Gothic" panose="020B0502020202020204" pitchFamily="34" charset="0"/>
              </a:rPr>
              <a:t> Model Comparison and Evaluation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5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6CE40-FBF2-26D8-3AA3-9EAF4604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17CE8C-BC5C-E5C0-2B99-6901AE0B9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8" y="1035721"/>
            <a:ext cx="10423162" cy="29789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Scope: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19,085 quotes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→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8,920 candidates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→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6,377 discounted customers</a:t>
            </a: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Method: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Estimate baseline acceptance, simulate uplift for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0%–10%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discounts, select high-response clusters, and optimize discounts under budget.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Result: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Personalized policy is expected to create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88 incremental accepted quotes 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from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6,377 discounted customers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Comparison: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This is higher than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Uniform 5% (50.8)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and more efficient, with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66,161 TL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cost per additional acceptance vs </a:t>
            </a: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114,623 TL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Action: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Apply higher discounts only to customers with strong incremental response; prioritize the most efficient clusters first. </a:t>
            </a:r>
          </a:p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Takeaway:</a:t>
            </a:r>
            <a:r>
              <a:rPr lang="en-US" sz="1400" dirty="0">
                <a:solidFill>
                  <a:schemeClr val="tx1"/>
                </a:solidFill>
                <a:latin typeface="Century Gothic" panose="020B0502020202020204" pitchFamily="34" charset="0"/>
              </a:rPr>
              <a:t> Personalized discounting achieves more portfolio growth with less wasted discount than a uniform moderate discount policy.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63114-E195-73AF-AAAF-08D554D18877}"/>
              </a:ext>
            </a:extLst>
          </p:cNvPr>
          <p:cNvSpPr txBox="1"/>
          <p:nvPr/>
        </p:nvSpPr>
        <p:spPr>
          <a:xfrm>
            <a:off x="11430000" y="643236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D408D-BCB8-C3EC-F34B-E939B780483D}"/>
              </a:ext>
            </a:extLst>
          </p:cNvPr>
          <p:cNvSpPr txBox="1"/>
          <p:nvPr/>
        </p:nvSpPr>
        <p:spPr>
          <a:xfrm>
            <a:off x="1697414" y="6425682"/>
            <a:ext cx="3669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1000" dirty="0">
                <a:latin typeface="Century Gothic" panose="020B0502020202020204" pitchFamily="34" charset="0"/>
              </a:rPr>
              <a:t>Figure 6: </a:t>
            </a:r>
            <a:r>
              <a:rPr lang="en-US" sz="1000" dirty="0">
                <a:latin typeface="Century Gothic" panose="020B0502020202020204" pitchFamily="34" charset="0"/>
              </a:rPr>
              <a:t>Policy-Level Impact and Efficiency Comparison</a:t>
            </a:r>
            <a:endParaRPr lang="en-TR" sz="1000" dirty="0">
              <a:latin typeface="Century Gothic" panose="020B0502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13208F-34E5-1FFD-9285-C95634F08A09}"/>
              </a:ext>
            </a:extLst>
          </p:cNvPr>
          <p:cNvSpPr txBox="1">
            <a:spLocks/>
          </p:cNvSpPr>
          <p:nvPr/>
        </p:nvSpPr>
        <p:spPr>
          <a:xfrm>
            <a:off x="929148" y="541572"/>
            <a:ext cx="10500852" cy="4941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spc="0" dirty="0">
                <a:latin typeface="Century Gothic" panose="020B0502020202020204" pitchFamily="34" charset="0"/>
              </a:rPr>
              <a:t>DISCOUNT OPTIMIZATION: TECHNICAL APPROACH AND BUSINESS RESULT</a:t>
            </a:r>
            <a:endParaRPr lang="en-TR" sz="2400" b="1" spc="0" dirty="0">
              <a:latin typeface="Century Gothic" panose="020B0502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35D335-45FB-75C7-CD46-E7E14694D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494" y="3859738"/>
            <a:ext cx="8721012" cy="256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B2F36"/>
      </a:dk2>
      <a:lt2>
        <a:srgbClr val="F3F3F2"/>
      </a:lt2>
      <a:accent1>
        <a:srgbClr val="A38D51"/>
      </a:accent1>
      <a:accent2>
        <a:srgbClr val="5A3D40"/>
      </a:accent2>
      <a:accent3>
        <a:srgbClr val="5D988C"/>
      </a:accent3>
      <a:accent4>
        <a:srgbClr val="A85752"/>
      </a:accent4>
      <a:accent5>
        <a:srgbClr val="809A67"/>
      </a:accent5>
      <a:accent6>
        <a:srgbClr val="67645A"/>
      </a:accent6>
      <a:hlink>
        <a:srgbClr val="5D988C"/>
      </a:hlink>
      <a:folHlink>
        <a:srgbClr val="8467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9E77EDF1-0821-4215-BD6E-A2D49F0255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544</TotalTime>
  <Words>1204</Words>
  <Application>Microsoft Macintosh PowerPoint</Application>
  <PresentationFormat>Widescreen</PresentationFormat>
  <Paragraphs>191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Gill Sans MT</vt:lpstr>
      <vt:lpstr>Impact</vt:lpstr>
      <vt:lpstr>Badge</vt:lpstr>
      <vt:lpstr>Quote Approval Prediction and Discount Optimization for Portfolio Growth</vt:lpstr>
      <vt:lpstr>Business Problem and Project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 Şekerci</dc:creator>
  <cp:lastModifiedBy>Esra Şekerci</cp:lastModifiedBy>
  <cp:revision>83</cp:revision>
  <dcterms:created xsi:type="dcterms:W3CDTF">2026-03-30T12:38:58Z</dcterms:created>
  <dcterms:modified xsi:type="dcterms:W3CDTF">2026-06-14T10:30:12Z</dcterms:modified>
</cp:coreProperties>
</file>