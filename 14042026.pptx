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6310550-2D4E-BE48-9159-59BD2B316A9F}">
          <p14:sldIdLst>
            <p14:sldId id="256"/>
            <p14:sldId id="257"/>
            <p14:sldId id="259"/>
            <p14:sldId id="260"/>
            <p14:sldId id="261"/>
            <p14:sldId id="262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4"/>
    <p:restoredTop sz="93967"/>
  </p:normalViewPr>
  <p:slideViewPr>
    <p:cSldViewPr snapToGrid="0">
      <p:cViewPr varScale="1">
        <p:scale>
          <a:sx n="117" d="100"/>
          <a:sy n="117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C4865-8662-2741-9287-80BDFDCB903E}" type="datetimeFigureOut">
              <a:rPr lang="en-TR" smtClean="0"/>
              <a:t>14.06.2026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13595-9211-2648-B62A-EC949B30029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39733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3595-9211-2648-B62A-EC949B300297}" type="slidenum">
              <a:rPr lang="en-TR" smtClean="0"/>
              <a:t>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263799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3595-9211-2648-B62A-EC949B300297}" type="slidenum">
              <a:rPr lang="en-TR" smtClean="0"/>
              <a:t>7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2029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2340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13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36764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53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49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67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890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660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25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8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2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5790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60FA-5118-698D-DB05-AB69D3339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5233" y="2578555"/>
            <a:ext cx="9241534" cy="1700890"/>
          </a:xfrm>
        </p:spPr>
        <p:txBody>
          <a:bodyPr anchor="t">
            <a:normAutofit/>
          </a:bodyPr>
          <a:lstStyle/>
          <a:p>
            <a:r>
              <a:rPr lang="en-US" sz="3200" dirty="0" err="1"/>
              <a:t>Portföy</a:t>
            </a:r>
            <a:r>
              <a:rPr lang="en-US" sz="3200" dirty="0"/>
              <a:t> </a:t>
            </a:r>
            <a:r>
              <a:rPr lang="en-US" sz="3200" dirty="0" err="1"/>
              <a:t>Büyümesi</a:t>
            </a:r>
            <a:r>
              <a:rPr lang="en-US" sz="3200" dirty="0"/>
              <a:t> </a:t>
            </a:r>
            <a:r>
              <a:rPr lang="en-US" sz="3200" dirty="0" err="1"/>
              <a:t>İÇİn</a:t>
            </a:r>
            <a:r>
              <a:rPr lang="en-US" sz="3200" dirty="0"/>
              <a:t> </a:t>
            </a:r>
            <a:r>
              <a:rPr lang="en-US" sz="3200" dirty="0" err="1"/>
              <a:t>Teklİf</a:t>
            </a:r>
            <a:r>
              <a:rPr lang="en-US" sz="3200" dirty="0"/>
              <a:t> Onay </a:t>
            </a:r>
            <a:r>
              <a:rPr lang="en-US" sz="3200" dirty="0" err="1"/>
              <a:t>TahmİNİ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İnDİRİm</a:t>
            </a:r>
            <a:r>
              <a:rPr lang="en-US" sz="3200" dirty="0"/>
              <a:t> </a:t>
            </a:r>
            <a:r>
              <a:rPr lang="en-US" sz="3200" dirty="0" err="1"/>
              <a:t>Optİmİzasyonu</a:t>
            </a:r>
            <a:endParaRPr lang="en-TR" sz="3200" b="1" spc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84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F280-D548-C990-83F4-2A814C6A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8" y="541572"/>
            <a:ext cx="10500852" cy="494149"/>
          </a:xfrm>
        </p:spPr>
        <p:txBody>
          <a:bodyPr anchor="b">
            <a:normAutofit/>
          </a:bodyPr>
          <a:lstStyle/>
          <a:p>
            <a:r>
              <a:rPr lang="en-US" sz="2400" b="1" spc="0" dirty="0">
                <a:latin typeface="Century Gothic" panose="020B0502020202020204" pitchFamily="34" charset="0"/>
              </a:rPr>
              <a:t>İŞ PROBLEMİ VE PROJE KAPSAMI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6C0CCFC-02AD-7FF2-D1FD-83FF9E1C00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456" y="1574330"/>
            <a:ext cx="101350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Amaç 1: 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Bir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müşterinin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sigorta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teklifini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kabul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edip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etmeyeceğini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tahmin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etmek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Amaç 2: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En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fazla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%10 prim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indiriminin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marj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kaybını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asgari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düzeyde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tutarak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beklenen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portföy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büyümesini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nasıl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maksimize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edeceğini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belirlemek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740C2-9B36-035E-3FC2-317854692300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B2F0A-2008-9C4B-9B98-10860F81EBC7}"/>
              </a:ext>
            </a:extLst>
          </p:cNvPr>
          <p:cNvSpPr txBox="1"/>
          <p:nvPr/>
        </p:nvSpPr>
        <p:spPr>
          <a:xfrm>
            <a:off x="1476242" y="5778596"/>
            <a:ext cx="15199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Şekil 1: İş Akışı Diyagramı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27660-D497-05A7-2CB6-725458C54D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59" b="6949"/>
          <a:stretch>
            <a:fillRect/>
          </a:stretch>
        </p:blipFill>
        <p:spPr>
          <a:xfrm>
            <a:off x="1550162" y="3192088"/>
            <a:ext cx="9091675" cy="258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8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A1B8C-AA14-FB1B-C170-35B63636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00D5DC-46EF-21DF-DB2D-B05D68DDED4A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2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148BB5D3-E08B-C710-1466-84D4C44567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148" y="1470808"/>
            <a:ext cx="477338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Veri Seti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Boyutu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19,085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gözlem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× 14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değişken</a:t>
            </a:r>
            <a:endParaRPr lang="en-US" sz="14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4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TR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teklif_onay_durumu</a:t>
            </a:r>
            <a:r>
              <a:rPr lang="en-US" altLang="en-TR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: 16,711 </a:t>
            </a:r>
            <a:r>
              <a:rPr lang="en-US" altLang="en-TR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onaylanmadı</a:t>
            </a:r>
            <a:r>
              <a:rPr lang="en-US" altLang="en-TR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(87.56%) 		    2,374 </a:t>
            </a:r>
            <a:r>
              <a:rPr lang="en-US" altLang="en-TR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onaylandı</a:t>
            </a:r>
            <a:r>
              <a:rPr lang="en-US" altLang="en-TR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 (12.44%)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Geçersiz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yer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tutucu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değerler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yas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= 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Eksiklik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yapısı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sistematiktir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toplamda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%3,934): 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yas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ve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ilce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eksiklikleri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yalnızca</a:t>
            </a:r>
            <a:r>
              <a:rPr kumimoji="0" lang="en-US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TÜZEL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sigortalılarda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US" altLang="en-T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gözlenmiştir</a:t>
            </a:r>
            <a:r>
              <a:rPr kumimoji="0" lang="en-US" altLang="en-T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949E00-504C-9FF6-EE00-86293A522779}"/>
              </a:ext>
            </a:extLst>
          </p:cNvPr>
          <p:cNvSpPr txBox="1"/>
          <p:nvPr/>
        </p:nvSpPr>
        <p:spPr>
          <a:xfrm>
            <a:off x="6068587" y="1239975"/>
            <a:ext cx="13516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Tablo 1: Veri Sözlüğü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EBD579-18EE-1348-8C43-3FB9BFB18EF3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>
                <a:latin typeface="Century Gothic" panose="020B0502020202020204" pitchFamily="34" charset="0"/>
              </a:rPr>
              <a:t>VERİ KALİTESİ İNCELEMESİ VE ÖN İŞLEME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CBB196-A2D1-88A5-665E-73B43E7E9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122804"/>
              </p:ext>
            </p:extLst>
          </p:nvPr>
        </p:nvGraphicFramePr>
        <p:xfrm>
          <a:off x="6068587" y="1470807"/>
          <a:ext cx="5628113" cy="4845621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855052">
                  <a:extLst>
                    <a:ext uri="{9D8B030D-6E8A-4147-A177-3AD203B41FA5}">
                      <a16:colId xmlns:a16="http://schemas.microsoft.com/office/drawing/2014/main" val="3619087141"/>
                    </a:ext>
                  </a:extLst>
                </a:gridCol>
                <a:gridCol w="2744361">
                  <a:extLst>
                    <a:ext uri="{9D8B030D-6E8A-4147-A177-3AD203B41FA5}">
                      <a16:colId xmlns:a16="http://schemas.microsoft.com/office/drawing/2014/main" val="260918092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928389131"/>
                    </a:ext>
                  </a:extLst>
                </a:gridCol>
              </a:tblGrid>
              <a:tr h="2324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Century Gothic" panose="020B0502020202020204" pitchFamily="34" charset="0"/>
                        </a:rPr>
                        <a:t>Değişken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Century Gothic" panose="020B0502020202020204" pitchFamily="34" charset="0"/>
                        </a:rPr>
                        <a:t>Açıklama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latin typeface="Century Gothic" panose="020B0502020202020204" pitchFamily="34" charset="0"/>
                        </a:rPr>
                        <a:t>Tür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3423635867"/>
                  </a:ext>
                </a:extLst>
              </a:tr>
              <a:tr h="232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teklif_numarasi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Teklifin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sistemdeki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unique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numarası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chr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1599721849"/>
                  </a:ext>
                </a:extLst>
              </a:tr>
              <a:tr h="583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hasarsizlik_indirimi_kademesi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Müşterinin kasko hasarsızlık indirimi kademesini temsil eder. (0 ile başlar, hasarsız her yıl artış gösterir, hasar durumunda düşer)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ord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342850066"/>
                  </a:ext>
                </a:extLst>
              </a:tr>
              <a:tr h="583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trafik_basamak_kodu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Müşterinin trafik hasarsızlık basamağını temsil eder. (4 ile başlar, hasarsız her yıl artış gösterir, hasar durumunda düşer)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ord</a:t>
                      </a: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 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2837584576"/>
                  </a:ext>
                </a:extLst>
              </a:tr>
              <a:tr h="232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marka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Aracın markası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fct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1607485089"/>
                  </a:ext>
                </a:extLst>
              </a:tr>
              <a:tr h="232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arac_yasi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Aracın yaşı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dbl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4164606847"/>
                  </a:ext>
                </a:extLst>
              </a:tr>
              <a:tr h="232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model_yili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Aracın model yılı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dbl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1178898927"/>
                  </a:ext>
                </a:extLst>
              </a:tr>
              <a:tr h="232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yakit_tipi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Aracın yakıt tipi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fct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2631657424"/>
                  </a:ext>
                </a:extLst>
              </a:tr>
              <a:tr h="232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il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Sigortalının ili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fct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4249786478"/>
                  </a:ext>
                </a:extLst>
              </a:tr>
              <a:tr h="232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ilce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Sigortalının ilçesi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fct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3198759779"/>
                  </a:ext>
                </a:extLst>
              </a:tr>
              <a:tr h="2324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yas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Sigortalının yaşı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dbl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3908401682"/>
                  </a:ext>
                </a:extLst>
              </a:tr>
              <a:tr h="3004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teklif_primi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Sigortalının teklif primi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dbl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225292663"/>
                  </a:ext>
                </a:extLst>
              </a:tr>
              <a:tr h="2956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portfoy_ayrimi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Poliçenin şirkette tekabül ettiği portföy alanı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fct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2474166549"/>
                  </a:ext>
                </a:extLst>
              </a:tr>
              <a:tr h="4079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sigortali_tipi</a:t>
                      </a: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Sigortalının özel - tüzel müşteri olma durumu ayrımı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Century Gothic" panose="020B0502020202020204" pitchFamily="34" charset="0"/>
                        </a:rPr>
                        <a:t>fct</a:t>
                      </a: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37122547"/>
                  </a:ext>
                </a:extLst>
              </a:tr>
              <a:tr h="5830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teklif_onay_durumu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54456" marR="54456" marT="27228" marB="27228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Sigortalıya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sunulan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teklifin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onaylanma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veya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onaylanmama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durumu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(T-&gt;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Onaylanmadı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, P-&gt;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Onaylandı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fct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54456" marR="54456" marT="27228" marB="27228"/>
                </a:tc>
                <a:extLst>
                  <a:ext uri="{0D108BD9-81ED-4DB2-BD59-A6C34878D82A}">
                    <a16:rowId xmlns:a16="http://schemas.microsoft.com/office/drawing/2014/main" val="4075699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36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25C0B-71EE-2371-AB95-0D482C8D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EDE18A-8B11-1A39-88B1-ACBD53606027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6CA1E2-1860-FAC7-C6B0-396A991136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2" t="1998" r="8946" b="2136"/>
          <a:stretch>
            <a:fillRect/>
          </a:stretch>
        </p:blipFill>
        <p:spPr>
          <a:xfrm>
            <a:off x="2806847" y="4153869"/>
            <a:ext cx="7132126" cy="24233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CC4B00-853E-AC29-0397-94D59BBFCFAF}"/>
              </a:ext>
            </a:extLst>
          </p:cNvPr>
          <p:cNvSpPr txBox="1"/>
          <p:nvPr/>
        </p:nvSpPr>
        <p:spPr>
          <a:xfrm>
            <a:off x="2806847" y="6577248"/>
            <a:ext cx="21884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Şekil 2: </a:t>
            </a:r>
            <a:r>
              <a:rPr lang="en-US" sz="900" dirty="0" err="1">
                <a:latin typeface="Century Gothic" panose="020B0502020202020204" pitchFamily="34" charset="0"/>
              </a:rPr>
              <a:t>Sayısal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Değişkenlerin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Dağılımı</a:t>
            </a:r>
            <a:endParaRPr lang="en-TR" sz="900" dirty="0">
              <a:latin typeface="Century Gothic" panose="020B0502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71764EC-6F27-E650-38D9-BEDE03E27350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>
                <a:latin typeface="Century Gothic" panose="020B0502020202020204" pitchFamily="34" charset="0"/>
              </a:rPr>
              <a:t>EDA: DAĞILIM VE YAPISAL BULGULAR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EF947B-D981-8548-F671-DB2270D49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369679"/>
              </p:ext>
            </p:extLst>
          </p:nvPr>
        </p:nvGraphicFramePr>
        <p:xfrm>
          <a:off x="2825751" y="1316032"/>
          <a:ext cx="6540499" cy="2740556"/>
        </p:xfrm>
        <a:graphic>
          <a:graphicData uri="http://schemas.openxmlformats.org/drawingml/2006/table">
            <a:tbl>
              <a:tblPr/>
              <a:tblGrid>
                <a:gridCol w="2006599">
                  <a:extLst>
                    <a:ext uri="{9D8B030D-6E8A-4147-A177-3AD203B41FA5}">
                      <a16:colId xmlns:a16="http://schemas.microsoft.com/office/drawing/2014/main" val="179489977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72912698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967813064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1704209181"/>
                    </a:ext>
                  </a:extLst>
                </a:gridCol>
              </a:tblGrid>
              <a:tr h="1211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 err="1">
                          <a:latin typeface="Century Gothic" panose="020B0502020202020204" pitchFamily="34" charset="0"/>
                        </a:rPr>
                        <a:t>hasarsizlik_indirimi_kademesi</a:t>
                      </a:r>
                      <a:endParaRPr lang="en-US" sz="1000" b="1" dirty="0">
                        <a:latin typeface="Century Gothic" panose="020B0502020202020204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0: 65300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3: 46390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4: 24080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5: 18390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6: 3669</a:t>
                      </a:r>
                    </a:p>
                  </a:txBody>
                  <a:tcPr marL="74877" marR="74877" marT="37439" marB="37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 err="1">
                          <a:latin typeface="Century Gothic" panose="020B0502020202020204" pitchFamily="34" charset="0"/>
                        </a:rPr>
                        <a:t>trafik_basamak_kodu</a:t>
                      </a:r>
                      <a:endParaRPr lang="en-US" sz="1000" b="1" dirty="0">
                        <a:latin typeface="Century Gothic" panose="020B0502020202020204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7: 5992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5: 4261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4: 3729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6: 2551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8: 2125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3: 332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Diğer</a:t>
                      </a: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: 95</a:t>
                      </a:r>
                    </a:p>
                    <a:p>
                      <a:pPr algn="l">
                        <a:buNone/>
                      </a:pP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74877" marR="74877" marT="37439" marB="37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Century Gothic" panose="020B0502020202020204" pitchFamily="34" charset="0"/>
                        </a:rPr>
                        <a:t>Marka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FORD: 4804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HONDA: 1097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MERCEDES: 2466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RENAULT: 1514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TOYOTA: 2124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VOLKSWAGEN: 7080</a:t>
                      </a:r>
                    </a:p>
                  </a:txBody>
                  <a:tcPr marL="74877" marR="74877" marT="37439" marB="37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 err="1">
                          <a:latin typeface="Century Gothic" panose="020B0502020202020204" pitchFamily="34" charset="0"/>
                        </a:rPr>
                        <a:t>yakit_tipi</a:t>
                      </a:r>
                      <a:endParaRPr lang="en-US" sz="1000" b="1" dirty="0">
                        <a:latin typeface="Century Gothic" panose="020B0502020202020204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BENZİN: 10194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DİZEL: 8891</a:t>
                      </a:r>
                    </a:p>
                  </a:txBody>
                  <a:tcPr marL="74877" marR="74877" marT="37439" marB="37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331113"/>
                  </a:ext>
                </a:extLst>
              </a:tr>
              <a:tr h="12116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latin typeface="Century Gothic" panose="020B0502020202020204" pitchFamily="34" charset="0"/>
                        </a:rPr>
                        <a:t>il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ANKARA: 4255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İSTANBUL: 11896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İZMİR: 2934</a:t>
                      </a:r>
                    </a:p>
                  </a:txBody>
                  <a:tcPr marL="74877" marR="74877" marT="37439" marB="37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 err="1">
                          <a:latin typeface="Century Gothic" panose="020B0502020202020204" pitchFamily="34" charset="0"/>
                        </a:rPr>
                        <a:t>ilce</a:t>
                      </a:r>
                      <a:endParaRPr lang="en-US" sz="1000" b="1" dirty="0">
                        <a:latin typeface="Century Gothic" panose="020B0502020202020204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ÇANKAYA: 971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YENİMAHALLE: 497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ETİMESGUT: 465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BAŞAKŞEHİR: 454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KÜÇÜKÇEKMECE: 453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Diğer</a:t>
                      </a: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: 10990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Century Gothic" panose="020B0502020202020204" pitchFamily="34" charset="0"/>
                        </a:rPr>
                        <a:t>Eksik</a:t>
                      </a: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: 5255</a:t>
                      </a:r>
                    </a:p>
                  </a:txBody>
                  <a:tcPr marL="74877" marR="74877" marT="37439" marB="37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 err="1">
                          <a:latin typeface="Century Gothic" panose="020B0502020202020204" pitchFamily="34" charset="0"/>
                        </a:rPr>
                        <a:t>portfoy_ayrimi</a:t>
                      </a:r>
                      <a:endParaRPr lang="en-US" sz="1000" b="1" dirty="0">
                        <a:latin typeface="Century Gothic" panose="020B0502020202020204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İLK DEFA SİGORTALI: 5338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SIFIR ARAÇ: 115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YENİ İŞ: 12027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YENİLEME: 1605</a:t>
                      </a:r>
                    </a:p>
                  </a:txBody>
                  <a:tcPr marL="74877" marR="74877" marT="37439" marB="37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 err="1">
                          <a:latin typeface="Century Gothic" panose="020B0502020202020204" pitchFamily="34" charset="0"/>
                        </a:rPr>
                        <a:t>sigortali_tipi</a:t>
                      </a:r>
                      <a:endParaRPr lang="en-US" sz="1000" b="1" dirty="0">
                        <a:latin typeface="Century Gothic" panose="020B0502020202020204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ÖZEL: 13830</a:t>
                      </a:r>
                    </a:p>
                    <a:p>
                      <a:pPr algn="l">
                        <a:buNone/>
                      </a:pPr>
                      <a:r>
                        <a:rPr lang="en-US" sz="1000" dirty="0">
                          <a:latin typeface="Century Gothic" panose="020B0502020202020204" pitchFamily="34" charset="0"/>
                        </a:rPr>
                        <a:t>TÜZEL: 5255</a:t>
                      </a:r>
                    </a:p>
                  </a:txBody>
                  <a:tcPr marL="74877" marR="74877" marT="37439" marB="3743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10609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A2A9B74-A686-A263-7D2C-DC4A7198E61C}"/>
              </a:ext>
            </a:extLst>
          </p:cNvPr>
          <p:cNvSpPr txBox="1"/>
          <p:nvPr/>
        </p:nvSpPr>
        <p:spPr>
          <a:xfrm>
            <a:off x="2825750" y="1109671"/>
            <a:ext cx="2396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Tablo 2: Kategorik Değişkenlerin Dağılımı</a:t>
            </a:r>
          </a:p>
        </p:txBody>
      </p:sp>
    </p:spTree>
    <p:extLst>
      <p:ext uri="{BB962C8B-B14F-4D97-AF65-F5344CB8AC3E}">
        <p14:creationId xmlns:p14="http://schemas.microsoft.com/office/powerpoint/2010/main" val="12680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60AA7-1F5F-14C6-EC3B-011D137B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5379FB-B5D8-2F6C-5E9B-CDD2F994CCAD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99D5C-8CEA-2C42-3159-4F1EABDF2F6D}"/>
              </a:ext>
            </a:extLst>
          </p:cNvPr>
          <p:cNvSpPr txBox="1"/>
          <p:nvPr/>
        </p:nvSpPr>
        <p:spPr>
          <a:xfrm>
            <a:off x="6807200" y="5480327"/>
            <a:ext cx="3352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Şekil 3: </a:t>
            </a:r>
            <a:r>
              <a:rPr lang="tr-TR" sz="900" dirty="0">
                <a:latin typeface="Century Gothic" panose="020B0502020202020204" pitchFamily="34" charset="0"/>
              </a:rPr>
              <a:t>Sayısal Değişkenlerin </a:t>
            </a:r>
            <a:r>
              <a:rPr lang="tr-TR" sz="900" dirty="0" err="1">
                <a:latin typeface="Century Gothic" panose="020B0502020202020204" pitchFamily="34" charset="0"/>
              </a:rPr>
              <a:t>Spearman</a:t>
            </a:r>
            <a:r>
              <a:rPr lang="tr-TR" sz="900" dirty="0">
                <a:latin typeface="Century Gothic" panose="020B0502020202020204" pitchFamily="34" charset="0"/>
              </a:rPr>
              <a:t> Korelasyon Matrisi</a:t>
            </a:r>
            <a:endParaRPr lang="en-TR" sz="900" dirty="0">
              <a:latin typeface="Century Gothic" panose="020B0502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ECA7BF-B587-0676-80F5-5F1DEBB53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0" y="1376198"/>
            <a:ext cx="4572366" cy="410560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46543AB-1A94-2FF7-351D-8601E4D425FB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>
                <a:latin typeface="Century Gothic" panose="020B0502020202020204" pitchFamily="34" charset="0"/>
              </a:rPr>
              <a:t>EDA: İLİŞKİ, KARIŞIKLIK VE ETKİLEŞİM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86C164B-9B2D-4788-C318-0007736622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148" y="1248400"/>
            <a:ext cx="5789152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En güçlü kategorik ilişki: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portfoy_ayrimi en yüksek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Cramér’s V (0.2601)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değerini vermiştir.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En güçlü sayısal ayırıcı: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teklif_primi, en yüksek mutlak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point-biserial korelasyon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(-0.0628) 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değerine sahiptir; ayrıca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Wilcoxon testi anlamlı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bulunmuştur.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Prim etkisi negatiftir: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teklif_primi arttıkça onay olasılığı düşmektedir (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point-biserial &lt; 0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TR" altLang="en-T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Etkileşim etkisi anlamlıdır: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Prim etkileşim terimleri model uyumunu artırmıştır (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LR test, p = 0.0021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Segment bazlı ana bulgu: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Negatif prim etkisi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YENİ İŞ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segmentinde daha zayıf bulunmuştur.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Çoklu doğrusal bağlantı kontrolü: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Temel fazlalık arac_yasi ile model_yili arasındaydı; arac_yasi çıkarıldıktan sonra kalan kollinearite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ihmal edilebilir düzeydedir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düzeltilmiş GVIF ≈ 1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6362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FEC93-F3D7-F38E-1D34-705C0CBD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85977-0B48-0D4E-5ED1-1AE5EEDF0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8" y="1114923"/>
            <a:ext cx="10903188" cy="26191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Bölme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Katmanlı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(Stratified)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85% / 15%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eğitim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-test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ayrımı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16,222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eğitim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- 2,863 test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gözlemi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).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Sızıntı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önleme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(Leakage):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Tüm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özellik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mühendisliği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ve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ön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işleme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adımları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yalnızca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ayrımdan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sonra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ve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eğitim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verisi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üzerinde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fit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edildi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14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Türetilmiş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değişkenler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log_teklif_primi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prim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etkileşimleri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ve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tarife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/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indirim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etkileşimi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14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Atama/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kodlama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(Imputation/encoding):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Sayısal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değişkenler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için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medyan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imputasyonu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ilce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için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ayrı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bir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eksik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kategori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ve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yalnızca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eğitim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verisiyle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one-hot encoding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uygulandı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86983-B37D-7459-B40C-6A83CD3E7D5A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5EB75-FD64-A003-2785-8A9D90A10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998" y="3473726"/>
            <a:ext cx="7031152" cy="28427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C5681E-A404-DCE8-F50C-0C75DF93539F}"/>
              </a:ext>
            </a:extLst>
          </p:cNvPr>
          <p:cNvSpPr txBox="1"/>
          <p:nvPr/>
        </p:nvSpPr>
        <p:spPr>
          <a:xfrm>
            <a:off x="2663998" y="6360384"/>
            <a:ext cx="50770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Şekil 4: </a:t>
            </a:r>
            <a:r>
              <a:rPr lang="en-US" sz="900" dirty="0">
                <a:latin typeface="Century Gothic" panose="020B0502020202020204" pitchFamily="34" charset="0"/>
              </a:rPr>
              <a:t>Mutual Information </a:t>
            </a:r>
            <a:r>
              <a:rPr lang="en-US" sz="900" dirty="0" err="1">
                <a:latin typeface="Century Gothic" panose="020B0502020202020204" pitchFamily="34" charset="0"/>
              </a:rPr>
              <a:t>ve</a:t>
            </a:r>
            <a:r>
              <a:rPr lang="en-US" sz="900" dirty="0">
                <a:latin typeface="Century Gothic" panose="020B0502020202020204" pitchFamily="34" charset="0"/>
              </a:rPr>
              <a:t> Extra Trees Gini </a:t>
            </a:r>
            <a:r>
              <a:rPr lang="en-US" sz="900" dirty="0" err="1">
                <a:latin typeface="Century Gothic" panose="020B0502020202020204" pitchFamily="34" charset="0"/>
              </a:rPr>
              <a:t>Importance’a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Göre</a:t>
            </a:r>
            <a:r>
              <a:rPr lang="en-US" sz="900" dirty="0">
                <a:latin typeface="Century Gothic" panose="020B0502020202020204" pitchFamily="34" charset="0"/>
              </a:rPr>
              <a:t> En </a:t>
            </a:r>
            <a:r>
              <a:rPr lang="en-US" sz="900" dirty="0" err="1">
                <a:latin typeface="Century Gothic" panose="020B0502020202020204" pitchFamily="34" charset="0"/>
              </a:rPr>
              <a:t>Önemli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Değişkenler</a:t>
            </a:r>
            <a:endParaRPr lang="en-TR" sz="900" dirty="0">
              <a:latin typeface="Century Gothic" panose="020B0502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0A8A0A8-5B6B-9459-E783-B388506E0B06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>
                <a:latin typeface="Century Gothic" panose="020B0502020202020204" pitchFamily="34" charset="0"/>
              </a:rPr>
              <a:t>Özellİk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MühendİSLİĞİ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ve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DengesİZLİk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Duyarlı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Modelleme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Kurulumu</a:t>
            </a:r>
            <a:endParaRPr lang="en-US" sz="24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05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60397-2CA3-9068-29C1-A297D72A8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F8DBDB-BB90-4713-7768-902634F707F4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6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45408EE-5E37-59DD-04AA-D334DB97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180647"/>
              </p:ext>
            </p:extLst>
          </p:nvPr>
        </p:nvGraphicFramePr>
        <p:xfrm>
          <a:off x="7784452" y="1945882"/>
          <a:ext cx="3211135" cy="299701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73532">
                  <a:extLst>
                    <a:ext uri="{9D8B030D-6E8A-4147-A177-3AD203B41FA5}">
                      <a16:colId xmlns:a16="http://schemas.microsoft.com/office/drawing/2014/main" val="1481425811"/>
                    </a:ext>
                  </a:extLst>
                </a:gridCol>
                <a:gridCol w="1421821">
                  <a:extLst>
                    <a:ext uri="{9D8B030D-6E8A-4147-A177-3AD203B41FA5}">
                      <a16:colId xmlns:a16="http://schemas.microsoft.com/office/drawing/2014/main" val="2468596102"/>
                    </a:ext>
                  </a:extLst>
                </a:gridCol>
                <a:gridCol w="1315782">
                  <a:extLst>
                    <a:ext uri="{9D8B030D-6E8A-4147-A177-3AD203B41FA5}">
                      <a16:colId xmlns:a16="http://schemas.microsoft.com/office/drawing/2014/main" val="1543735868"/>
                    </a:ext>
                  </a:extLst>
                </a:gridCol>
              </a:tblGrid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Rank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Model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dirty="0"/>
                        <a:t>Best CV ROC-AUC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503800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1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extra_trees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0.758780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320346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2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hist_gbm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0.758502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912745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3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mlp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0.758215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06354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4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lightgbm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0.756593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723949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5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logistic_l2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0.756149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77744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6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random_forest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0.756125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554350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7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logistic_elasticnet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0.756083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050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8B94C39-1402-4F83-EC0C-7002090E0C3B}"/>
              </a:ext>
            </a:extLst>
          </p:cNvPr>
          <p:cNvSpPr txBox="1"/>
          <p:nvPr/>
        </p:nvSpPr>
        <p:spPr>
          <a:xfrm>
            <a:off x="7784452" y="1715050"/>
            <a:ext cx="27767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Tablo 3: </a:t>
            </a:r>
            <a:r>
              <a:rPr lang="en-US" sz="900" dirty="0" err="1">
                <a:latin typeface="Century Gothic" panose="020B0502020202020204" pitchFamily="34" charset="0"/>
              </a:rPr>
              <a:t>Çapraz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Doğrulamalı</a:t>
            </a:r>
            <a:r>
              <a:rPr lang="en-US" sz="900" dirty="0">
                <a:latin typeface="Century Gothic" panose="020B0502020202020204" pitchFamily="34" charset="0"/>
              </a:rPr>
              <a:t> Model Ayar </a:t>
            </a:r>
            <a:r>
              <a:rPr lang="en-US" sz="900" dirty="0" err="1">
                <a:latin typeface="Century Gothic" panose="020B0502020202020204" pitchFamily="34" charset="0"/>
              </a:rPr>
              <a:t>Özeti</a:t>
            </a:r>
            <a:endParaRPr lang="en-TR" sz="900" dirty="0">
              <a:latin typeface="Century Gothic" panose="020B0502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9368E3-6122-04B8-C03F-CAB35602684D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Century Gothic" panose="020B0502020202020204" pitchFamily="34" charset="0"/>
              </a:rPr>
              <a:t>Model </a:t>
            </a:r>
            <a:r>
              <a:rPr lang="en-US" sz="2400" b="1" dirty="0" err="1">
                <a:latin typeface="Century Gothic" panose="020B0502020202020204" pitchFamily="34" charset="0"/>
              </a:rPr>
              <a:t>Aİlelerİ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ve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Hİperparametre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Ayarı</a:t>
            </a:r>
            <a:endParaRPr lang="en-US" sz="2400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F9D3-DBA6-76EC-2008-929DE97388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148" y="1336120"/>
            <a:ext cx="6127336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Karşılaştırılan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modeller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br>
              <a:rPr lang="en-US" sz="1200" dirty="0">
                <a:solidFill>
                  <a:schemeClr val="tx1"/>
                </a:solidFill>
                <a:latin typeface="Century Gothic" panose="020B0502020202020204" pitchFamily="34" charset="0"/>
              </a:rPr>
            </a:br>
            <a:r>
              <a:rPr lang="en-US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- Logistic Regression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- Elastic Net Logistic Regression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- Random Forest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- Extra Trees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- </a:t>
            </a:r>
            <a:r>
              <a:rPr lang="en-US" sz="12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HistGradientBoosting</a:t>
            </a:r>
            <a:endParaRPr lang="en-US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- </a:t>
            </a:r>
            <a:r>
              <a:rPr lang="en-US" sz="12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LightGBM</a:t>
            </a:r>
            <a:endParaRPr lang="en-US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- MLP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Hiperparametre araması:</a:t>
            </a: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Eğitim verisi üzerinde,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Stratified 5-fold cross-validation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(shuffle=True, random_state=42) kullanılarak her model için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 aday kombinasyon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üzerinde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RandomizedSearchCV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uygulanmıştır.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Temel optimizasyon metriği: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ROC-AUC</a:t>
            </a:r>
            <a:endParaRPr lang="en-TR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Sınıf dengesizliği kontrolü:</a:t>
            </a: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Uygun modellerde class_weight yaklaşımı kullanılmış; boosting ve MLP tarafında ayrıca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early stopping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ile aşırı öğrenme riski sınırlandırılmıştır. </a:t>
            </a:r>
          </a:p>
        </p:txBody>
      </p:sp>
    </p:spTree>
    <p:extLst>
      <p:ext uri="{BB962C8B-B14F-4D97-AF65-F5344CB8AC3E}">
        <p14:creationId xmlns:p14="http://schemas.microsoft.com/office/powerpoint/2010/main" val="354561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F24C7-76B7-6FEF-2E52-26F5FD4F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B3EF4AC-B637-EDE6-E056-366ABD36EB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3931249"/>
              </p:ext>
            </p:extLst>
          </p:nvPr>
        </p:nvGraphicFramePr>
        <p:xfrm>
          <a:off x="929148" y="4316465"/>
          <a:ext cx="3881390" cy="211590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776278">
                  <a:extLst>
                    <a:ext uri="{9D8B030D-6E8A-4147-A177-3AD203B41FA5}">
                      <a16:colId xmlns:a16="http://schemas.microsoft.com/office/drawing/2014/main" val="62674959"/>
                    </a:ext>
                  </a:extLst>
                </a:gridCol>
                <a:gridCol w="776278">
                  <a:extLst>
                    <a:ext uri="{9D8B030D-6E8A-4147-A177-3AD203B41FA5}">
                      <a16:colId xmlns:a16="http://schemas.microsoft.com/office/drawing/2014/main" val="3248128571"/>
                    </a:ext>
                  </a:extLst>
                </a:gridCol>
                <a:gridCol w="776278">
                  <a:extLst>
                    <a:ext uri="{9D8B030D-6E8A-4147-A177-3AD203B41FA5}">
                      <a16:colId xmlns:a16="http://schemas.microsoft.com/office/drawing/2014/main" val="3202084882"/>
                    </a:ext>
                  </a:extLst>
                </a:gridCol>
                <a:gridCol w="776278">
                  <a:extLst>
                    <a:ext uri="{9D8B030D-6E8A-4147-A177-3AD203B41FA5}">
                      <a16:colId xmlns:a16="http://schemas.microsoft.com/office/drawing/2014/main" val="3131625900"/>
                    </a:ext>
                  </a:extLst>
                </a:gridCol>
                <a:gridCol w="776278">
                  <a:extLst>
                    <a:ext uri="{9D8B030D-6E8A-4147-A177-3AD203B41FA5}">
                      <a16:colId xmlns:a16="http://schemas.microsoft.com/office/drawing/2014/main" val="1163227661"/>
                    </a:ext>
                  </a:extLst>
                </a:gridCol>
              </a:tblGrid>
              <a:tr h="368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Class / Metric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dirty="0"/>
                        <a:t>Precision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Recall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F1-Score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Support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1427528644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Declined (0)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0.9122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0.8995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0.9058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2507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1016325535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Accepted (1)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0.3555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0.3900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0.3722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356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1415405325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Accuracy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 dirty="0"/>
                        <a:t>0.8362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2863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1446126249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Macro Avg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 dirty="0"/>
                        <a:t>0.6339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 dirty="0"/>
                        <a:t>0.6450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 dirty="0"/>
                        <a:t>0.6390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2863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424764073"/>
                  </a:ext>
                </a:extLst>
              </a:tr>
              <a:tr h="368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Weighted Avg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 dirty="0"/>
                        <a:t>0.8430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 dirty="0"/>
                        <a:t>0.8362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 dirty="0"/>
                        <a:t>0.8394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2863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33492087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B43FB4-D8FA-B1EC-9812-9F584F7DE165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CED56-76E5-DDBF-DF91-E5451F806E0B}"/>
              </a:ext>
            </a:extLst>
          </p:cNvPr>
          <p:cNvSpPr txBox="1"/>
          <p:nvPr/>
        </p:nvSpPr>
        <p:spPr>
          <a:xfrm>
            <a:off x="893332" y="4101125"/>
            <a:ext cx="26725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Tablo 4: </a:t>
            </a:r>
            <a:r>
              <a:rPr lang="en-US" sz="900" dirty="0" err="1">
                <a:latin typeface="Century Gothic" panose="020B0502020202020204" pitchFamily="34" charset="0"/>
              </a:rPr>
              <a:t>Nihai</a:t>
            </a:r>
            <a:r>
              <a:rPr lang="en-US" sz="900" dirty="0">
                <a:latin typeface="Century Gothic" panose="020B0502020202020204" pitchFamily="34" charset="0"/>
              </a:rPr>
              <a:t> Test Seti </a:t>
            </a:r>
            <a:r>
              <a:rPr lang="en-US" sz="900" dirty="0" err="1">
                <a:latin typeface="Century Gothic" panose="020B0502020202020204" pitchFamily="34" charset="0"/>
              </a:rPr>
              <a:t>Sınıflandırma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Sonuçları</a:t>
            </a:r>
            <a:endParaRPr lang="en-TR" sz="900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C643A-DDE5-9D83-765E-1053D0C5E81F}"/>
              </a:ext>
            </a:extLst>
          </p:cNvPr>
          <p:cNvSpPr txBox="1"/>
          <p:nvPr/>
        </p:nvSpPr>
        <p:spPr>
          <a:xfrm>
            <a:off x="4924587" y="6450671"/>
            <a:ext cx="12346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Şekil 5: Hata Matrisi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37159EE4-53AE-8289-AAD3-0F8C0CDB6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441" y="1166448"/>
            <a:ext cx="10541559" cy="2744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Macro-F1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dengesiz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imbalance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)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sınıf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yapısı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nedeniyle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temel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seçim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metriği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olarak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kullanıldı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</a:p>
          <a:p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ROC-AUC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ve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PR-AUC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modelin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olasılık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sıralama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kalitesini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destekleyici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ölçütler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olarak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değerlendirildi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</a:p>
          <a:p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Eşik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optimizasyonu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: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Nihai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sınıflandırma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eşiği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varsayılan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0.50’de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bırakılmamış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; Macro-F1’i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maksimize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edecek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şekilde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ayarlanmıştır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(threshold = 0.64)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</a:p>
          <a:p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Yapısal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üstünlük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Extra Trees,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doğrusal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baz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modellere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kıyasla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doğrusal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olmayan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ilişkileri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ve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değişken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etkileşimlerini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daha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iyi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yakalamıştır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D8001B-3892-8D09-CAFD-2540C31BA8BD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Century Gothic" panose="020B0502020202020204" pitchFamily="34" charset="0"/>
              </a:rPr>
              <a:t>NİHANİ Model </a:t>
            </a:r>
            <a:r>
              <a:rPr lang="en-US" sz="2400" b="1" dirty="0" err="1">
                <a:latin typeface="Century Gothic" panose="020B0502020202020204" pitchFamily="34" charset="0"/>
              </a:rPr>
              <a:t>Karşılaştırması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ve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DeğerlendİRMESİ</a:t>
            </a:r>
            <a:endParaRPr lang="en-US" sz="2400" b="1" dirty="0">
              <a:latin typeface="Century Gothic" panose="020B0502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B18973-703B-1DB6-C25F-5E624776B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76" y="4216541"/>
            <a:ext cx="3643978" cy="2248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5CDDAE-4D94-70EB-E8AE-4948752E1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565" y="4198807"/>
            <a:ext cx="2750223" cy="22489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3331D0-2ECE-56EF-6238-9E81C3F3FCF8}"/>
              </a:ext>
            </a:extLst>
          </p:cNvPr>
          <p:cNvSpPr txBox="1"/>
          <p:nvPr/>
        </p:nvSpPr>
        <p:spPr>
          <a:xfrm>
            <a:off x="7854676" y="6512274"/>
            <a:ext cx="27478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Şekil 6: </a:t>
            </a:r>
            <a:r>
              <a:rPr lang="en-US" sz="900" dirty="0" err="1">
                <a:latin typeface="Century Gothic" panose="020B0502020202020204" pitchFamily="34" charset="0"/>
              </a:rPr>
              <a:t>Eşik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Ayarlama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Eğrisi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ve</a:t>
            </a:r>
            <a:r>
              <a:rPr lang="en-US" sz="900" dirty="0">
                <a:latin typeface="Century Gothic" panose="020B0502020202020204" pitchFamily="34" charset="0"/>
              </a:rPr>
              <a:t> En İyi Karar </a:t>
            </a:r>
            <a:r>
              <a:rPr lang="en-US" sz="900" dirty="0" err="1">
                <a:latin typeface="Century Gothic" panose="020B0502020202020204" pitchFamily="34" charset="0"/>
              </a:rPr>
              <a:t>Eşiği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endParaRPr lang="en-TR" sz="9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5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6CE40-FBF2-26D8-3AA3-9EAF4604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463114-E195-73AF-AAAF-08D554D18877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1D408D-BCB8-C3EC-F34B-E939B780483D}"/>
              </a:ext>
            </a:extLst>
          </p:cNvPr>
          <p:cNvSpPr txBox="1"/>
          <p:nvPr/>
        </p:nvSpPr>
        <p:spPr>
          <a:xfrm>
            <a:off x="1735494" y="6568172"/>
            <a:ext cx="39885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900" dirty="0">
                <a:latin typeface="Century Gothic" panose="020B0502020202020204" pitchFamily="34" charset="0"/>
              </a:rPr>
              <a:t>Şekil 7: </a:t>
            </a:r>
            <a:r>
              <a:rPr lang="en-US" sz="900" dirty="0">
                <a:latin typeface="Century Gothic" panose="020B0502020202020204" pitchFamily="34" charset="0"/>
              </a:rPr>
              <a:t>Politika </a:t>
            </a:r>
            <a:r>
              <a:rPr lang="en-US" sz="900" dirty="0" err="1">
                <a:latin typeface="Century Gothic" panose="020B0502020202020204" pitchFamily="34" charset="0"/>
              </a:rPr>
              <a:t>Bazında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Etki</a:t>
            </a:r>
            <a:r>
              <a:rPr lang="en-US" sz="900" dirty="0">
                <a:latin typeface="Century Gothic" panose="020B0502020202020204" pitchFamily="34" charset="0"/>
              </a:rPr>
              <a:t>, </a:t>
            </a:r>
            <a:r>
              <a:rPr lang="en-US" sz="900" dirty="0" err="1">
                <a:latin typeface="Century Gothic" panose="020B0502020202020204" pitchFamily="34" charset="0"/>
              </a:rPr>
              <a:t>Verimlilik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ve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İndirim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Dağılımı</a:t>
            </a:r>
            <a:r>
              <a:rPr lang="en-US" sz="900" dirty="0">
                <a:latin typeface="Century Gothic" panose="020B0502020202020204" pitchFamily="34" charset="0"/>
              </a:rPr>
              <a:t> </a:t>
            </a:r>
            <a:r>
              <a:rPr lang="en-US" sz="900" dirty="0" err="1">
                <a:latin typeface="Century Gothic" panose="020B0502020202020204" pitchFamily="34" charset="0"/>
              </a:rPr>
              <a:t>Karşılaştırması</a:t>
            </a:r>
            <a:endParaRPr lang="en-TR" sz="900" dirty="0">
              <a:latin typeface="Century Gothic" panose="020B0502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13208F-34E5-1FFD-9285-C95634F08A09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Century Gothic" panose="020B0502020202020204" pitchFamily="34" charset="0"/>
              </a:rPr>
              <a:t>İNDİRİM OPTİMİZASYONU: TEKNİK YAKLAŞIM VE İŞ SONUCU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35D335-45FB-75C7-CD46-E7E14694D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494" y="3994552"/>
            <a:ext cx="8721012" cy="2565944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49417AC6-7686-8767-11D9-486CFC12CF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6475" y="1032204"/>
            <a:ext cx="9355125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None/>
            </a:pP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19,085 </a:t>
            </a:r>
            <a:r>
              <a:rPr lang="en-US" sz="12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tekliften</a:t>
            </a: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8,920 </a:t>
            </a:r>
            <a:r>
              <a:rPr lang="en-US" sz="12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aday</a:t>
            </a: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müşteri</a:t>
            </a: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, </a:t>
            </a:r>
            <a:r>
              <a:rPr lang="en-US" sz="12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oradan</a:t>
            </a: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da 6,377 </a:t>
            </a:r>
            <a:r>
              <a:rPr lang="en-US" sz="12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indirime</a:t>
            </a: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seçilen</a:t>
            </a: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müşteri</a:t>
            </a: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elde</a:t>
            </a: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edilmiş</a:t>
            </a:r>
            <a:r>
              <a:rPr lang="en-US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  <a:endParaRPr kumimoji="0" lang="en-TR" altLang="en-T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Baz olasılık tahmini: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Her müşteri için indirimsiz kabul olasılığı p_base(i) hesaplandı. 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İndirim simülasyonu: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Her müşteri için %0-%10 indirim altında yeni kabul olasılığı p(i,d) üretildi. 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Uplift tanımı: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Delta(i,d) = p(i,d) - p_base(i) 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Maliyet tanımı: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c(i,d) = Premium(i) * d 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Verimlilik ölçütü: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Eff(i,d) = Delta(i,d) / c(i,d) 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Aday seçimi: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Makul taban olasılık ve anlamlı uplift koşullarını sağlayan müşteriler filtrelendi. 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Kümeleme: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Uplift ve verimlilik profiline göre K-Means ile müşteri kümeleri oluşturuldu; yüksek skorlu kümeler seçildi. 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Optimizasyon: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İndirim ataması, bütçe altında </a:t>
            </a:r>
            <a:r>
              <a:rPr kumimoji="0" lang="en-US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Multiple-Choice Knapsack Problem (</a:t>
            </a: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MCKP)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olarak çözüldü. 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Bütçe kıyası: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Referans bütçe, uniform %5 indirim maliyeti ile eşitlendi. 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</a:pPr>
            <a:r>
              <a:rPr kumimoji="0" lang="en-TR" altLang="en-T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Sonuç:</a:t>
            </a:r>
            <a:r>
              <a:rPr kumimoji="0" lang="en-TR" altLang="en-T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Kişiselleştirilmiş politika, uniform indirime göre daha yüksek beklenen ek kabul ve daha düşük birim maliyet üretti.</a:t>
            </a:r>
          </a:p>
        </p:txBody>
      </p:sp>
    </p:spTree>
    <p:extLst>
      <p:ext uri="{BB962C8B-B14F-4D97-AF65-F5344CB8AC3E}">
        <p14:creationId xmlns:p14="http://schemas.microsoft.com/office/powerpoint/2010/main" val="350840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B2F36"/>
      </a:dk2>
      <a:lt2>
        <a:srgbClr val="F3F3F2"/>
      </a:lt2>
      <a:accent1>
        <a:srgbClr val="A38D51"/>
      </a:accent1>
      <a:accent2>
        <a:srgbClr val="5A3D40"/>
      </a:accent2>
      <a:accent3>
        <a:srgbClr val="5D988C"/>
      </a:accent3>
      <a:accent4>
        <a:srgbClr val="A85752"/>
      </a:accent4>
      <a:accent5>
        <a:srgbClr val="809A67"/>
      </a:accent5>
      <a:accent6>
        <a:srgbClr val="67645A"/>
      </a:accent6>
      <a:hlink>
        <a:srgbClr val="5D988C"/>
      </a:hlink>
      <a:folHlink>
        <a:srgbClr val="8467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9E77EDF1-0821-4215-BD6E-A2D49F0255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1824</TotalTime>
  <Words>1177</Words>
  <Application>Microsoft Macintosh PowerPoint</Application>
  <PresentationFormat>Widescreen</PresentationFormat>
  <Paragraphs>232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Century Gothic</vt:lpstr>
      <vt:lpstr>Gill Sans MT</vt:lpstr>
      <vt:lpstr>Impact</vt:lpstr>
      <vt:lpstr>Badge</vt:lpstr>
      <vt:lpstr>Portföy Büyümesi İÇİn Teklİf Onay TahmİNİ ve İnDİRİm Optİmİzasyonu</vt:lpstr>
      <vt:lpstr>İŞ PROBLEMİ VE PROJE KAPSAMI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 Şekerci</dc:creator>
  <cp:lastModifiedBy>Esra Şekerci</cp:lastModifiedBy>
  <cp:revision>129</cp:revision>
  <dcterms:created xsi:type="dcterms:W3CDTF">2026-03-30T12:38:58Z</dcterms:created>
  <dcterms:modified xsi:type="dcterms:W3CDTF">2026-06-14T10:29:40Z</dcterms:modified>
</cp:coreProperties>
</file>